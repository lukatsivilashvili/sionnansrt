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template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wide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8E2"/>
    <a:srgbClr val="C8CE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71"/>
    <p:restoredTop sz="94687"/>
  </p:normalViewPr>
  <p:slideViewPr>
    <p:cSldViewPr snapToGrid="0" snapToObjects="1">
      <p:cViewPr varScale="1">
        <p:scale>
          <a:sx n="104" d="100"/>
          <a:sy n="104" d="100"/>
        </p:scale>
        <p:origin x="87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percent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29-0F47-B6B2-6761B02EC325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29-0F47-B6B2-6761B02EC325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Feuil1!$A$2:$A$5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029-0F47-B6B2-6761B02EC3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30937760"/>
        <c:axId val="435177072"/>
        <c:axId val="0"/>
      </c:bar3DChart>
      <c:catAx>
        <c:axId val="430937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35177072"/>
        <c:crosses val="autoZero"/>
        <c:auto val="1"/>
        <c:lblAlgn val="ctr"/>
        <c:lblOffset val="100"/>
        <c:noMultiLvlLbl val="0"/>
      </c:catAx>
      <c:valAx>
        <c:axId val="435177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30937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C9FE4A83-2246-0B43-BDA7-53970D17E1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2721CD7-0F09-2940-B40B-B4357A2356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7AEB6-90E8-E44F-848D-104AA8CC5AD6}" type="datetimeFigureOut">
              <a:rPr lang="fr-FR" smtClean="0"/>
              <a:t>12/12/2021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B5BA391-061E-074B-BF55-7AF9C3EF87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707DBA-FC96-604F-8D37-65EC679C17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1CCCE-E65F-6743-96E2-694B2AF1DBC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547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CFD308-95CE-8F48-B53D-D1DC36ED1B1E}" type="datetimeFigureOut">
              <a:rPr lang="fr-FR" smtClean="0"/>
              <a:t>12/12/2021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4FB41-6DC0-D642-ADC3-E078F71039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22238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0F20AC4-999E-614A-A164-C26BE3F7C1D6}"/>
              </a:ext>
            </a:extLst>
          </p:cNvPr>
          <p:cNvSpPr/>
          <p:nvPr userDrawn="1"/>
        </p:nvSpPr>
        <p:spPr>
          <a:xfrm>
            <a:off x="-1" y="478302"/>
            <a:ext cx="12192001" cy="6379697"/>
          </a:xfrm>
          <a:prstGeom prst="rect">
            <a:avLst/>
          </a:prstGeom>
          <a:solidFill>
            <a:srgbClr val="EBE8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E777ED80-1C71-E441-8CF7-BDDDAAA9C2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940" r="18940" b="71810"/>
          <a:stretch/>
        </p:blipFill>
        <p:spPr>
          <a:xfrm rot="10800000">
            <a:off x="0" y="-1"/>
            <a:ext cx="12192000" cy="209360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4DB11B4-AD4E-D44D-B565-8149CD07B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2467C6E-87A1-2D47-AAD5-61B35D5BC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583536-6E2E-2E47-AEE7-46EF5D96F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123DD0E5-1D00-B745-B05B-8400B6ED2062}" type="datetime1">
              <a:rPr lang="fr-FR" smtClean="0"/>
              <a:t>12/12/2021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1E7217-2973-7C4E-A05C-C99D2BE4B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418618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/>
              <a:t>Titre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D5F430-B020-884A-89B8-E95FC55A6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3A36EA06-0662-D543-AECD-415C94EDD120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454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2ED510-418B-EE44-9E58-A6D73425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651"/>
            <a:ext cx="10515600" cy="1030038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41E290-3BBA-1343-AA45-D00B83CF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4B9890-FB32-464D-808C-C31000707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65E1-3D8C-2843-92B0-C98E8276E64B}" type="datetime1">
              <a:rPr lang="fr-FR" smtClean="0"/>
              <a:t>12/12/2021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7554D5-8DDF-4F4C-9167-7F931C803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4186185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Titre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0854B5-6B04-F54D-8EAB-FF3E4CBE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A06-0662-D543-AECD-415C94EDD1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427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F6CB18-2F16-8D4D-9B8A-09F6378C6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EDCDD1-329F-D846-BA20-EF9AC9E25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F9B493-31DD-DB44-8616-FCFEE0B58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43988-9E5A-EE40-8C8F-D4F91F5A0B29}" type="datetime1">
              <a:rPr lang="fr-FR" smtClean="0"/>
              <a:t>12/12/2021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195FAD-EF26-3E40-9FC8-10C9580D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4186185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Titre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43E567-D52E-014D-B7FF-C8543E1D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A06-0662-D543-AECD-415C94EDD1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8955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5A7746-AB8C-BF4D-AEC2-9DFA1D2EC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775"/>
            <a:ext cx="10515600" cy="1113914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B8A60A-47C3-9B41-9AD6-3F9C73348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39AB11-76ED-074D-B38B-BDB7E4EEC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BFC80B-6ADA-A14C-8119-FD3F3E4D7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1FBD-304D-8F45-8B48-2F37ABC82196}" type="datetime1">
              <a:rPr lang="fr-FR" smtClean="0"/>
              <a:t>12/12/2021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A905675-C048-B64E-9CC4-8F928DBA4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4186185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Titre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8CA19A-342B-7E49-8548-620BBF2F3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A06-0662-D543-AECD-415C94EDD1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3046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87A27F-DCB1-AB4A-8231-9B63F681F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94360"/>
            <a:ext cx="10515600" cy="1096328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891674-AFDD-704C-9D61-919920957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02C8B7-2578-7E48-8691-21841207E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BAA59E4-A462-1B4E-BA9D-5DE2ADA2D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51254E1-7242-2E4D-8693-8F90B6519F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1A79B49-1377-9342-8947-CB3836DB8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BF58D-25C5-C04F-8EDC-FAF0FAF69A9B}" type="datetime1">
              <a:rPr lang="fr-FR" smtClean="0"/>
              <a:t>12/12/2021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4A0FA33-E92B-BE48-94EC-FB607C5A0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4186185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Titre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28C4699-D9AF-B346-99A8-2553FAE5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A06-0662-D543-AECD-415C94EDD1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3129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86D96E-5394-F04E-BFE9-7D5A2456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651"/>
            <a:ext cx="10515600" cy="1030038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CAE7339-7FD2-094C-9A88-F7FC205CD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44A63-FCAD-2A4F-9C46-DE96F472716B}" type="datetime1">
              <a:rPr lang="fr-FR" smtClean="0"/>
              <a:t>12/12/2021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1D19946-FCED-A841-8950-C17F7BC5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4186185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2C6C1A4-37FF-3941-8C46-01769FEC4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A06-0662-D543-AECD-415C94EDD1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1394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DD31039-9201-3B4E-AFE6-EF63288D4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52996-D0A8-5346-96FC-FC5D6D7F6AE2}" type="datetime1">
              <a:rPr lang="fr-FR" smtClean="0"/>
              <a:t>12/12/2021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867375F-6D36-1442-BD0C-A69D72BE3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4186185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Titre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0EFF4A-E5DE-034C-8C23-3D7BFEC5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A06-0662-D543-AECD-415C94EDD1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4963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8E5DB6-24B4-5A4E-9EFA-D39E8E4BC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24840"/>
            <a:ext cx="3932237" cy="143256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10E18F-81F2-4547-813C-8E4E846CB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218720-203F-F441-9638-C211A7A9A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8628"/>
            <a:ext cx="3932237" cy="36603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7FF3C1-B0F8-FE41-AC99-E9622FDEB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579F4-2B3B-7C40-B265-2E59F08D78E1}" type="datetime1">
              <a:rPr lang="fr-FR" smtClean="0"/>
              <a:t>12/12/2021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C47737-2D17-C147-B344-36740E24A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4186185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Titre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C6FEEF-EB4B-524A-888F-7752C91B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A06-0662-D543-AECD-415C94EDD1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3860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DD97A-195D-E04B-8671-17ACF8F97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14478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C988B03-F958-7F47-9A96-B525BD740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ACAD046-5838-AD49-8517-688F3F42F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22694"/>
            <a:ext cx="3932237" cy="364629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F3BC3C-9AE5-2449-A2ED-7C1951741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92FB-9A5C-F54A-9CDE-48D52A15A1A5}" type="datetime1">
              <a:rPr lang="fr-FR" smtClean="0"/>
              <a:t>12/12/2021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5CC9865-BD21-9145-8CFF-C051D018F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4186185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Titre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624F06-BCA7-FA43-B48F-866C2867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A06-0662-D543-AECD-415C94EDD1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0211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235005-22A5-CD46-8E0A-C22E11B8D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651"/>
            <a:ext cx="10515600" cy="1030038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662FACE-3485-1145-842A-C1B957CF3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067562-CFA2-3B46-B674-FAE69E51F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073D-DE9F-A746-89AB-2FD172B00F00}" type="datetime1">
              <a:rPr lang="fr-FR" smtClean="0"/>
              <a:t>12/12/2021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9F7F81-F337-9440-B0D3-C2842DABA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4186185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Titre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919645-4C50-FA4A-ACC0-BF5CBF03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A06-0662-D543-AECD-415C94EDD1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2535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193AD63-A396-ED42-BD9F-C9C2BDEEF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31519"/>
            <a:ext cx="2628900" cy="5445444"/>
          </a:xfrm>
          <a:prstGeom prst="rect">
            <a:avLst/>
          </a:prstGeom>
        </p:spPr>
        <p:txBody>
          <a:bodyPr vert="eaVert"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9DD4575-A68A-7949-862B-615B841FC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31519"/>
            <a:ext cx="7734300" cy="5445443"/>
          </a:xfrm>
        </p:spPr>
        <p:txBody>
          <a:bodyPr vert="eaVert"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5EFC63-FBE4-D74D-9B03-77FFCFC53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B5C4-B0BD-B348-87B5-9D95FC4B4B06}" type="datetime1">
              <a:rPr lang="fr-FR" smtClean="0"/>
              <a:t>12/12/2021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3A2B95-18C6-1948-A4CD-C4955EC03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4186185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Titre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2AAA57-D926-9642-ABB4-98033A6C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A06-0662-D543-AECD-415C94EDD1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0218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2D1D12-ABAB-0748-80DF-ED89C454B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3D56B9-BBCA-7D4E-BEDC-A9E3C297A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99033" y="6356350"/>
            <a:ext cx="1054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6CBE6-B11A-434A-B9B6-713A75008714}" type="datetime1">
              <a:rPr lang="fr-FR" smtClean="0"/>
              <a:t>12/12/2021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394229-D047-6C4C-AB21-24A0D727E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11015" y="6356350"/>
            <a:ext cx="17421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5AA775-F57A-6946-8B79-E67618250C21}"/>
              </a:ext>
            </a:extLst>
          </p:cNvPr>
          <p:cNvSpPr/>
          <p:nvPr userDrawn="1"/>
        </p:nvSpPr>
        <p:spPr>
          <a:xfrm>
            <a:off x="0" y="0"/>
            <a:ext cx="12192000" cy="481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EC3995C5-B37A-D849-A07C-5A160B00B37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84226" y="56323"/>
            <a:ext cx="3954638" cy="356427"/>
          </a:xfrm>
          <a:prstGeom prst="rect">
            <a:avLst/>
          </a:prstGeom>
        </p:spPr>
      </p:pic>
      <p:sp>
        <p:nvSpPr>
          <p:cNvPr id="17" name="Espace réservé du titre 16">
            <a:extLst>
              <a:ext uri="{FF2B5EF4-FFF2-40B4-BE49-F238E27FC236}">
                <a16:creationId xmlns:a16="http://schemas.microsoft.com/office/drawing/2014/main" id="{1EE7A039-1304-4F44-85CF-11451432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7586"/>
            <a:ext cx="10515600" cy="1153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2EA4BEDA-FB6E-EE44-AF11-419505AC27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19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5466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ck_architecture_flow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ck_signal_map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ck_channel_triptych.png"/><Relationship Id="rId3" Type="http://schemas.openxmlformats.org/officeDocument/2006/relationships/image" Target="../media/deck_sionna_montage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B2F94E-7382-9746-9AC4-F6E19A409C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Mon titre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3E52FE4-4E50-464E-8B91-B731E67536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Et mon sous-titre</a:t>
            </a:r>
          </a:p>
        </p:txBody>
      </p:sp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ED3C44EF-FBF9-234F-A8BB-DE81CA127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ED1-1D97-CF4B-AA5D-8B6515642BC9}" type="datetime1">
              <a:rPr lang="fr-FR" smtClean="0"/>
              <a:t>12/12/2021</a:t>
            </a:fld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BF0D49C7-C22E-0E49-B245-F1A94EDD0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Mon titre</a:t>
            </a:r>
          </a:p>
        </p:txBody>
      </p:sp>
    </p:spTree>
    <p:extLst>
      <p:ext uri="{BB962C8B-B14F-4D97-AF65-F5344CB8AC3E}">
        <p14:creationId xmlns:p14="http://schemas.microsoft.com/office/powerpoint/2010/main" val="1301968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00" name="CEDRIC Accent"/>
          <p:cNvSpPr/>
          <p:nvPr/>
        </p:nvSpPr>
        <p:spPr>
          <a:xfrm>
            <a:off x="0" y="0"/>
            <a:ext cx="12192000" cy="123444"/>
          </a:xfrm>
          <a:prstGeom prst="rect">
            <a:avLst/>
          </a:prstGeom>
          <a:solidFill>
            <a:srgbClr val="C7012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53440" y="685800"/>
            <a:ext cx="10485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F2937"/>
                </a:solidFill>
              </a:rPr>
              <a:t>NS-3 Traffic Through Sionna RT to Linux TAP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3440" y="1783080"/>
            <a:ext cx="9997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700">
                <a:solidFill>
                  <a:srgbClr val="374151"/>
                </a:solidFill>
              </a:rPr>
              <a:t>Current project state: SUMO mobility, Sionna-managed LTE channel, TCP traffic, TAP delivery, and per-coordinate visualization.</a:t>
            </a:r>
          </a:p>
        </p:txBody>
      </p:sp>
      <p:pic>
        <p:nvPicPr>
          <p:cNvPr id="12" name="architectur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74620"/>
            <a:ext cx="10728960" cy="288036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853440" y="5760720"/>
            <a:ext cx="1048512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100">
                <a:solidFill>
                  <a:srgbClr val="555555"/>
                </a:solidFill>
              </a:rPr>
              <a:t>Latest validated run: results/sionna_ns3_experiment_20260507_012424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487680" y="6446520"/>
            <a:ext cx="877824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800">
                <a:solidFill>
                  <a:srgbClr val="666666"/>
                </a:solidFill>
              </a:rPr>
              <a:t>ns-3 + Sionna RT + SUMO/TAP current state</a:t>
            </a:r>
          </a:p>
        </p:txBody>
      </p:sp>
      <p:sp>
        <p:nvSpPr>
          <p:cNvPr id="902" name="TextBox 902"/>
          <p:cNvSpPr txBox="1"/>
          <p:nvPr/>
        </p:nvSpPr>
        <p:spPr>
          <a:xfrm>
            <a:off x="11338560" y="6446520"/>
            <a:ext cx="36576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800">
                <a:solidFill>
                  <a:srgbClr val="66666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00" name="CEDRIC Accent"/>
          <p:cNvSpPr/>
          <p:nvPr/>
        </p:nvSpPr>
        <p:spPr>
          <a:xfrm>
            <a:off x="0" y="0"/>
            <a:ext cx="12192000" cy="123444"/>
          </a:xfrm>
          <a:prstGeom prst="rect">
            <a:avLst/>
          </a:prstGeom>
          <a:solidFill>
            <a:srgbClr val="C7012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09600" y="3429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800" b="1">
                <a:solidFill>
                  <a:srgbClr val="1F2937"/>
                </a:solidFill>
              </a:rPr>
              <a:t>Implemented Workflow</a:t>
            </a:r>
          </a:p>
        </p:txBody>
      </p:sp>
      <p:pic>
        <p:nvPicPr>
          <p:cNvPr id="21" name="trajectory_signa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97280"/>
            <a:ext cx="6583680" cy="37719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7559040" y="1165860"/>
            <a:ext cx="3901440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500">
                <a:solidFill>
                  <a:srgbClr val="222222"/>
                </a:solidFill>
              </a:rPr>
              <a:t>SUMO generated 20 RX samples for vehicle car_1 on the CNAM route.</a:t>
            </a:r>
          </a:p>
          <a:p>
            <a:r>
              <a:rPr lang="en-US" sz="1500">
                <a:solidFill>
                  <a:srgbClr val="222222"/>
                </a:solidFill>
              </a:rPr>
              <a:t>ns-3 now runs one continuous trajectory simulation instead of restarting per coordinate.</a:t>
            </a:r>
          </a:p>
          <a:p>
            <a:r>
              <a:rPr lang="en-US" sz="1500">
                <a:solidFill>
                  <a:srgbClr val="222222"/>
                </a:solidFill>
              </a:rPr>
              <a:t>TCP traffic is generated inside ns-3 and sent through the Sionna-managed LTE path.</a:t>
            </a:r>
          </a:p>
          <a:p>
            <a:r>
              <a:rPr lang="en-US" sz="1500">
                <a:solidFill>
                  <a:srgbClr val="222222"/>
                </a:solidFill>
              </a:rPr>
              <a:t>TapBridge delivers receiver-side traffic to tap0 in the Linux default namespace.</a:t>
            </a:r>
          </a:p>
          <a:p>
            <a:r>
              <a:rPr lang="en-US" sz="1500">
                <a:solidFill>
                  <a:srgbClr val="222222"/>
                </a:solidFill>
              </a:rPr>
              <a:t>Sionna heatmaps are exported after the traffic run.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3440" y="5143500"/>
            <a:ext cx="10485120" cy="4800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>
                <a:solidFill>
                  <a:srgbClr val="555555"/>
                </a:solidFill>
              </a:rPr>
              <a:t>This plot shows the RX trajectory colored by computed Sionna RSS, so the points are actual evaluated locations.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487680" y="6446520"/>
            <a:ext cx="877824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800">
                <a:solidFill>
                  <a:srgbClr val="666666"/>
                </a:solidFill>
              </a:rPr>
              <a:t>ns-3 + Sionna RT + SUMO/TAP current state</a:t>
            </a:r>
          </a:p>
        </p:txBody>
      </p:sp>
      <p:sp>
        <p:nvSpPr>
          <p:cNvPr id="902" name="TextBox 902"/>
          <p:cNvSpPr txBox="1"/>
          <p:nvPr/>
        </p:nvSpPr>
        <p:spPr>
          <a:xfrm>
            <a:off x="11338560" y="6446520"/>
            <a:ext cx="36576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800">
                <a:solidFill>
                  <a:srgbClr val="66666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00" name="CEDRIC Accent"/>
          <p:cNvSpPr/>
          <p:nvPr/>
        </p:nvSpPr>
        <p:spPr>
          <a:xfrm>
            <a:off x="0" y="0"/>
            <a:ext cx="12192000" cy="123444"/>
          </a:xfrm>
          <a:prstGeom prst="rect">
            <a:avLst/>
          </a:prstGeom>
          <a:solidFill>
            <a:srgbClr val="C7012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9600" y="3429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800" b="1">
                <a:solidFill>
                  <a:srgbClr val="1F2937"/>
                </a:solidFill>
              </a:rPr>
              <a:t>Channel Metrics And Sionna Outputs</a:t>
            </a:r>
          </a:p>
        </p:txBody>
      </p:sp>
      <p:pic>
        <p:nvPicPr>
          <p:cNvPr id="31" name="trajectory_channel_tripty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28700"/>
            <a:ext cx="5608320" cy="4389120"/>
          </a:xfrm>
          <a:prstGeom prst="rect">
            <a:avLst/>
          </a:prstGeom>
        </p:spPr>
      </p:pic>
      <p:pic>
        <p:nvPicPr>
          <p:cNvPr id="32" name="sionna_scene_grid_mon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0" y="1028700"/>
            <a:ext cx="5120640" cy="281178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6705600" y="4114800"/>
            <a:ext cx="4632960" cy="1165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>
                <a:solidFill>
                  <a:srgbClr val="555555"/>
                </a:solidFill>
              </a:rPr>
              <a:t>The curves show RSS, path gain, and SINR along the SUMO route.</a:t>
            </a:r>
          </a:p>
          <a:p>
            <a:r>
              <a:rPr lang="en-US" sz="1200">
                <a:solidFill>
                  <a:srgbClr val="555555"/>
                </a:solidFill>
              </a:rPr>
              <a:t>The Sionna scene/grid exports confirm route visualization. Heatmaps generated: 19/20.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487680" y="6446520"/>
            <a:ext cx="877824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800">
                <a:solidFill>
                  <a:srgbClr val="666666"/>
                </a:solidFill>
              </a:rPr>
              <a:t>ns-3 + Sionna RT + SUMO/TAP current state</a:t>
            </a:r>
          </a:p>
        </p:txBody>
      </p:sp>
      <p:sp>
        <p:nvSpPr>
          <p:cNvPr id="902" name="TextBox 902"/>
          <p:cNvSpPr txBox="1"/>
          <p:nvPr/>
        </p:nvSpPr>
        <p:spPr>
          <a:xfrm>
            <a:off x="11338560" y="6446520"/>
            <a:ext cx="36576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800">
                <a:solidFill>
                  <a:srgbClr val="66666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900" name="CEDRIC Accent"/>
          <p:cNvSpPr/>
          <p:nvPr/>
        </p:nvSpPr>
        <p:spPr>
          <a:xfrm>
            <a:off x="0" y="0"/>
            <a:ext cx="12192000" cy="123444"/>
          </a:xfrm>
          <a:prstGeom prst="rect">
            <a:avLst/>
          </a:prstGeom>
          <a:solidFill>
            <a:srgbClr val="C7012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09600" y="3429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800" b="1">
                <a:solidFill>
                  <a:srgbClr val="1F2937"/>
                </a:solidFill>
              </a:rPr>
              <a:t>Current Setup And Future Goals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53440" y="1165860"/>
            <a:ext cx="5120640" cy="3703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222222"/>
                </a:solidFill>
              </a:rPr>
              <a:t>Current setup</a:t>
            </a:r>
          </a:p>
          <a:p>
            <a:r>
              <a:rPr lang="en-US" sz="1600">
                <a:solidFill>
                  <a:srgbClr val="222222"/>
                </a:solidFill>
              </a:rPr>
              <a:t>ns-3 generates TCP traffic internally.</a:t>
            </a:r>
          </a:p>
          <a:p>
            <a:r>
              <a:rPr lang="en-US" sz="1600">
                <a:solidFill>
                  <a:srgbClr val="222222"/>
                </a:solidFill>
              </a:rPr>
              <a:t>SUMO provides the moving RX trajectory for car_1.</a:t>
            </a:r>
          </a:p>
          <a:p>
            <a:r>
              <a:rPr lang="en-US" sz="1600">
                <a:solidFill>
                  <a:srgbClr val="222222"/>
                </a:solidFill>
              </a:rPr>
              <a:t>Sionna RT evaluates channel quality along that route.</a:t>
            </a:r>
          </a:p>
          <a:p>
            <a:r>
              <a:rPr lang="en-US" sz="1600">
                <a:solidFill>
                  <a:srgbClr val="222222"/>
                </a:solidFill>
              </a:rPr>
              <a:t>Packets exit through EPC/PGW and TapBridge to tap0.</a:t>
            </a:r>
          </a:p>
          <a:p>
            <a:r>
              <a:rPr lang="en-US" sz="1600">
                <a:solidFill>
                  <a:srgbClr val="222222"/>
                </a:solidFill>
              </a:rPr>
              <a:t>Linux receives the TCP stream and tcpdump records the route traffic.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461760" y="1165860"/>
            <a:ext cx="4876800" cy="3703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00">
                <a:solidFill>
                  <a:srgbClr val="222222"/>
                </a:solidFill>
              </a:rPr>
              <a:t>Future goals</a:t>
            </a:r>
          </a:p>
          <a:p>
            <a:r>
              <a:rPr lang="en-US" sz="1600">
                <a:solidFill>
                  <a:srgbClr val="222222"/>
                </a:solidFill>
              </a:rPr>
              <a:t>Tighten per-sample TCP accounting so packet metrics align exactly with each mobility window.</a:t>
            </a:r>
          </a:p>
          <a:p>
            <a:r>
              <a:rPr lang="en-US" sz="1600">
                <a:solidFill>
                  <a:srgbClr val="222222"/>
                </a:solidFill>
              </a:rPr>
              <a:t>Improve automatic retry for missing Sionna heatmap exports.</a:t>
            </a:r>
          </a:p>
          <a:p>
            <a:r>
              <a:rPr lang="en-US" sz="1600">
                <a:solidFill>
                  <a:srgbClr val="222222"/>
                </a:solidFill>
              </a:rPr>
              <a:t>Add richer NLOS/path interaction reporting where the Sionna API exposes it.</a:t>
            </a:r>
          </a:p>
          <a:p>
            <a:r>
              <a:rPr lang="en-US" sz="1600">
                <a:solidFill>
                  <a:srgbClr val="222222"/>
                </a:solidFill>
              </a:rPr>
              <a:t>Move toward live mobility-channel coupling if real-time co-simulation becomes required.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75360" y="521208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400" b="1">
                <a:solidFill>
                  <a:srgbClr val="7C2D12"/>
                </a:solidFill>
              </a:rPr>
              <a:t>Latest proof point: Linux received 307,712 TCP payload bytes through tap0; tcpdump captured 422 KB of route traffic.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487680" y="6446520"/>
            <a:ext cx="877824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800">
                <a:solidFill>
                  <a:srgbClr val="666666"/>
                </a:solidFill>
              </a:rPr>
              <a:t>ns-3 + Sionna RT + SUMO/TAP current state</a:t>
            </a:r>
          </a:p>
        </p:txBody>
      </p:sp>
      <p:sp>
        <p:nvSpPr>
          <p:cNvPr id="902" name="TextBox 902"/>
          <p:cNvSpPr txBox="1"/>
          <p:nvPr/>
        </p:nvSpPr>
        <p:spPr>
          <a:xfrm>
            <a:off x="11338560" y="6446520"/>
            <a:ext cx="36576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800">
                <a:solidFill>
                  <a:srgbClr val="666666"/>
                </a:solidFill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EDRIC">
      <a:dk1>
        <a:srgbClr val="212121"/>
      </a:dk1>
      <a:lt1>
        <a:srgbClr val="FFFFFF"/>
      </a:lt1>
      <a:dk2>
        <a:srgbClr val="44546A"/>
      </a:dk2>
      <a:lt2>
        <a:srgbClr val="E7E6E6"/>
      </a:lt2>
      <a:accent1>
        <a:srgbClr val="C7012B"/>
      </a:accent1>
      <a:accent2>
        <a:srgbClr val="EC8209"/>
      </a:accent2>
      <a:accent3>
        <a:srgbClr val="A5A5A5"/>
      </a:accent3>
      <a:accent4>
        <a:srgbClr val="FFC000"/>
      </a:accent4>
      <a:accent5>
        <a:srgbClr val="624AD7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" id="{41032A9A-D4B2-2243-887A-9520E929BE3B}" vid="{8A2362C3-9988-A746-B033-CFB6AFE536E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E6D1348AB40649B7847627B34ADCD4" ma:contentTypeVersion="12" ma:contentTypeDescription="Crée un document." ma:contentTypeScope="" ma:versionID="d3523317226cf564f5f538f6b006665f">
  <xsd:schema xmlns:xsd="http://www.w3.org/2001/XMLSchema" xmlns:xs="http://www.w3.org/2001/XMLSchema" xmlns:p="http://schemas.microsoft.com/office/2006/metadata/properties" xmlns:ns2="31c3b3e0-ee88-4673-94d4-f9bf092ef2bd" xmlns:ns3="b89bd5b4-398a-45dc-891a-86eee16b5a9b" targetNamespace="http://schemas.microsoft.com/office/2006/metadata/properties" ma:root="true" ma:fieldsID="f8c914fd60f3b2544a9c7c0d1eb3c5f1" ns2:_="" ns3:_="">
    <xsd:import namespace="31c3b3e0-ee88-4673-94d4-f9bf092ef2bd"/>
    <xsd:import namespace="b89bd5b4-398a-45dc-891a-86eee16b5a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c3b3e0-ee88-4673-94d4-f9bf092ef2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9bd5b4-398a-45dc-891a-86eee16b5a9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BB8995C-C35A-4317-B2DA-2C0F4A3B6370}"/>
</file>

<file path=customXml/itemProps2.xml><?xml version="1.0" encoding="utf-8"?>
<ds:datastoreItem xmlns:ds="http://schemas.openxmlformats.org/officeDocument/2006/customXml" ds:itemID="{774C5A48-F1B3-4B19-8186-F97C0C38147C}"/>
</file>

<file path=customXml/itemProps3.xml><?xml version="1.0" encoding="utf-8"?>
<ds:datastoreItem xmlns:ds="http://schemas.openxmlformats.org/officeDocument/2006/customXml" ds:itemID="{D02DD44F-4E4E-411A-BE00-D9AE363B19B0}"/>
</file>

<file path=docProps/app.xml><?xml version="1.0" encoding="utf-8"?>
<Properties xmlns="http://schemas.openxmlformats.org/officeDocument/2006/extended-properties" xmlns:vt="http://schemas.openxmlformats.org/officeDocument/2006/docPropsVTypes">
  <Application>Codex OpenXML generator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NS-3, Sionna RT, SUMO and TAP Current State</dc:title>
  <dc:creator>Codex</dc:creator>
  <cp:lastModifiedBy>Codex</cp:lastModifiedBy>
  <dcterms:created xsi:type="dcterms:W3CDTF">2026-05-07T06:49:04Z</dcterms:created>
  <dcterms:modified xsi:type="dcterms:W3CDTF">2026-05-07T06:49:04Z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0x010100C4E6D1348AB40649B7847627B34ADCD4</vt:lpwstr>
  </property>
</Properties>
</file>